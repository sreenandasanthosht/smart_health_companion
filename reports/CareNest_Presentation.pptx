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13"/>
    <p:sldId id="262" r:id="rId12"/>
    <p:sldId id="263" r:id="rId16"/>
    <p:sldId id="264" r:id="rId29"/>
    <p:sldId id="265" r:id="rId14"/>
    <p:sldId id="266" r:id="rId15"/>
    <p:sldId id="267" r:id="rId30"/>
    <p:sldId id="268" r:id="rId33"/>
    <p:sldId id="269" r:id="rId31"/>
    <p:sldId id="270" r:id="rId34"/>
    <p:sldId id="271" r:id="rId32"/>
    <p:sldId id="272" r:id="rId35"/>
    <p:sldId id="273" r:id="rId36"/>
    <p:sldId id="274" r:id="rId37"/>
    <p:sldId id="275" r:id="rId8"/>
    <p:sldId id="276" r:id="rId17"/>
    <p:sldId id="277" r:id="rId18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B45C9-8D55-C012-CC16-C2D33206F76E}" v="3" dt="2026-07-24T10:53:14.340"/>
    <p1510:client id="{61416A4C-D1D5-25FE-0703-7EDFBE6C66DF}" v="6" dt="2026-07-24T17:07:16.470"/>
    <p1510:client id="{DAC6101D-7195-1138-0B4D-EC9F5D506D96}" v="77" dt="2026-07-24T18:23:38.4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20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8.xml"/><Relationship Id="rId17" Type="http://schemas.openxmlformats.org/officeDocument/2006/relationships/slide" Target="slides/slide21.xml"/><Relationship Id="rId18" Type="http://schemas.openxmlformats.org/officeDocument/2006/relationships/slide" Target="slides/slide22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Relationship Id="rId29" Type="http://schemas.openxmlformats.org/officeDocument/2006/relationships/slide" Target="slides/slide9.xml"/><Relationship Id="rId30" Type="http://schemas.openxmlformats.org/officeDocument/2006/relationships/slide" Target="slides/slide12.xml"/><Relationship Id="rId31" Type="http://schemas.openxmlformats.org/officeDocument/2006/relationships/slide" Target="slides/slide14.xml"/><Relationship Id="rId32" Type="http://schemas.openxmlformats.org/officeDocument/2006/relationships/slide" Target="slides/slide16.xml"/><Relationship Id="rId33" Type="http://schemas.openxmlformats.org/officeDocument/2006/relationships/slide" Target="slides/slide13.xml"/><Relationship Id="rId34" Type="http://schemas.openxmlformats.org/officeDocument/2006/relationships/slide" Target="slides/slide15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2101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6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>
            <a:spLocks noGrp="1"/>
          </p:cNvSpPr>
          <p:nvPr>
            <p:ph type="ctrTitle"/>
          </p:nvPr>
        </p:nvSpPr>
        <p:spPr>
          <a:xfrm>
            <a:off x="311700" y="2014872"/>
            <a:ext cx="8520600" cy="1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000">
                <a:solidFill>
                  <a:srgbClr val="0B5394"/>
                </a:solidFill>
                <a:latin typeface="Arial"/>
              </a:rPr>
              <a:t>CareNest</a:t>
            </a:r>
            <a:endParaRPr lang="en-IN" sz="4000"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311700" y="3749805"/>
            <a:ext cx="8520600" cy="5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sz="1700" b="1" err="1">
                <a:solidFill>
                  <a:srgbClr val="A8841F"/>
                </a:solidFill>
                <a:latin typeface="Arial"/>
              </a:rPr>
              <a:t>An </a:t>
            </a:r>
            <a:r>
              <a:rPr sz="1700" b="1">
                <a:solidFill>
                  <a:srgbClr val="A8841F"/>
                </a:solidFill>
                <a:latin typeface="Arial"/>
              </a:rPr>
              <a:t>Intelligent Integrated Health Management Ecosystem</a:t>
            </a:r>
            <a:endParaRPr lang="en-US"/>
          </a:p>
          <a:p>
            <a:pPr marL="0" indent="0"/>
            <a:endParaRPr lang="en-US" sz="1300" i="1">
              <a:solidFill>
                <a:srgbClr val="667085"/>
              </a:solidFill>
              <a:latin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14400" y="4653280"/>
            <a:ext cx="7358742" cy="951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5394"/>
                </a:solidFill>
                <a:latin typeface="Arial"/>
              </a:rPr>
              <a:t>Presented by    </a:t>
            </a:r>
            <a:r>
              <a:rPr sz="1200" b="0" i="0">
                <a:solidFill>
                  <a:srgbClr val="2D2D2D"/>
                </a:solidFill>
                <a:latin typeface="Arial"/>
              </a:rPr>
              <a:t>Sreenanda T (2548051)    ·    </a:t>
            </a:r>
            <a:r>
              <a:rPr lang="en-US" sz="1200" b="0" i="0">
                <a:solidFill>
                  <a:srgbClr val="2D2D2D"/>
                </a:solidFill>
                <a:latin typeface="Arial"/>
              </a:rPr>
              <a:t>Terese Mathew (2548057)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i="0">
                <a:solidFill>
                  <a:srgbClr val="0B5394"/>
                </a:solidFill>
                <a:latin typeface="Arial"/>
              </a:rPr>
              <a:t>Guide    </a:t>
            </a:r>
            <a:r>
              <a:rPr lang="en-US" sz="1200" b="0" i="0">
                <a:solidFill>
                  <a:srgbClr val="2D2D2D"/>
                </a:solidFill>
                <a:latin typeface="Arial"/>
              </a:rPr>
              <a:t>Dr Apash Roy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67085"/>
                </a:solidFill>
                <a:latin typeface="Arial"/>
              </a:rPr>
              <a:t>MDS482-4 Project-I   ·   Master of Data </a:t>
            </a:r>
            <a:r>
              <a:rPr lang="en-US" sz="1100">
                <a:solidFill>
                  <a:srgbClr val="667085"/>
                </a:solidFill>
              </a:rPr>
              <a:t>Science</a:t>
            </a:r>
            <a:endParaRPr lang="en-US" sz="1100" b="0" i="0" err="1">
              <a:solidFill>
                <a:srgbClr val="667085"/>
              </a:solidFill>
              <a:latin typeface="Arial"/>
            </a:endParaRP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667085"/>
                </a:solidFill>
                <a:latin typeface="Arial"/>
              </a:rPr>
              <a:t>Department of Statistics and Data Science</a:t>
            </a:r>
            <a:r>
              <a:rPr lang="en-US" sz="1100">
                <a:solidFill>
                  <a:srgbClr val="667085"/>
                </a:solidFill>
              </a:rPr>
              <a:t> </a:t>
            </a:r>
            <a:endParaRPr lang="en-US" sz="1100" b="0" i="0">
              <a:solidFill>
                <a:srgbClr val="66708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What is CareNest?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8183879" cy="932688"/>
          </a:xfrm>
          <a:prstGeom prst="roundRect">
            <a:avLst>
              <a:gd name="adj" fmla="val 9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7635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200" b="0" i="0">
                <a:solidFill>
                  <a:srgbClr val="2D2D2D"/>
                </a:solidFill>
                <a:latin typeface="Arial"/>
              </a:rPr>
              <a:t>A consent-first health platform that keeps one patient’s vitals, medicines, lifestyle, documents and appointments in a single record — and lets the family, providers and nurses who help them see exactly what the patient allows, and nothing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B5394"/>
                </a:solidFill>
                <a:latin typeface="Arial"/>
              </a:rPr>
              <a:t>Domain:  </a:t>
            </a:r>
            <a:r>
              <a:rPr sz="1150" b="0" i="0">
                <a:solidFill>
                  <a:srgbClr val="2D2D2D"/>
                </a:solidFill>
                <a:latin typeface="Arial"/>
              </a:rPr>
              <a:t>Healthcare Analytics &amp; </a:t>
            </a:r>
            <a:r>
              <a:rPr lang="en-US" sz="1150">
                <a:solidFill>
                  <a:srgbClr val="2D2D2D"/>
                </a:solidFill>
              </a:rPr>
              <a:t>Consent-Governed Health Management</a:t>
            </a:r>
            <a:endParaRPr sz="1150" b="0" i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82296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endParaRPr lang="en-US" sz="1250" b="1" i="0" spc="180">
              <a:solidFill>
                <a:srgbClr val="A8841F"/>
              </a:solidFill>
              <a:latin typeface="Arial"/>
            </a:endParaRPr>
          </a:p>
          <a:p>
            <a:pPr algn="ctr"/>
            <a:r>
              <a:rPr lang="en-US" sz="1250" b="1" spc="180">
                <a:solidFill>
                  <a:srgbClr val="A8841F"/>
                </a:solidFill>
              </a:rPr>
              <a:t>PROJECT VISION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3630168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70248"/>
            <a:ext cx="1956816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One Health Record</a:t>
            </a:r>
          </a:p>
        </p:txBody>
      </p:sp>
      <p:sp>
        <p:nvSpPr>
          <p:cNvPr id="12" name="Oval 11"/>
          <p:cNvSpPr/>
          <p:nvPr/>
        </p:nvSpPr>
        <p:spPr>
          <a:xfrm>
            <a:off x="2651759" y="3630168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4270248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AI Document Reading</a:t>
            </a:r>
          </a:p>
        </p:txBody>
      </p:sp>
      <p:sp>
        <p:nvSpPr>
          <p:cNvPr id="15" name="Oval 14"/>
          <p:cNvSpPr/>
          <p:nvPr/>
        </p:nvSpPr>
        <p:spPr>
          <a:xfrm>
            <a:off x="4782312" y="3630168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4270248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Consent &amp; Privacy</a:t>
            </a:r>
          </a:p>
        </p:txBody>
      </p:sp>
      <p:sp>
        <p:nvSpPr>
          <p:cNvPr id="18" name="Oval 17"/>
          <p:cNvSpPr/>
          <p:nvPr/>
        </p:nvSpPr>
        <p:spPr>
          <a:xfrm>
            <a:off x="6912864" y="3630168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4270248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Safe Care-Team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69165-1E9F-9C3E-8651-C33701BC0129}"/>
              </a:ext>
            </a:extLst>
          </p:cNvPr>
          <p:cNvSpPr txBox="1"/>
          <p:nvPr/>
        </p:nvSpPr>
        <p:spPr>
          <a:xfrm>
            <a:off x="464457" y="4945743"/>
            <a:ext cx="840377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To develop an integrated, consent-governed health management platform that helps patients monitor and manage their physical and mental well-being, and that lets the people who support them — family, providers, nurses — participate safely, under permission the patient grants and can withdraw at any time.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PROJECT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150">
                <a:solidFill>
                  <a:srgbClr val="0B5394"/>
                </a:solidFill>
                <a:latin typeface="Arial"/>
              </a:rPr>
              <a:t>EXISTING PROBLEMS</a:t>
            </a:r>
          </a:p>
        </p:txBody>
      </p:sp>
      <p:sp>
        <p:nvSpPr>
          <p:cNvPr id="6" name="Oval 5"/>
          <p:cNvSpPr/>
          <p:nvPr/>
        </p:nvSpPr>
        <p:spPr>
          <a:xfrm>
            <a:off x="676656" y="1892807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186537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Records are scattered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112264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Vitals, prescriptions and reports sit in different apps, portals and paper files.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2679191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6517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Doses are missed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2898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Chronic patients take medicines several times a day, but most tools track only one tick per day.</a:t>
            </a:r>
          </a:p>
        </p:txBody>
      </p:sp>
      <p:sp>
        <p:nvSpPr>
          <p:cNvPr id="15" name="Oval 14"/>
          <p:cNvSpPr/>
          <p:nvPr/>
        </p:nvSpPr>
        <p:spPr>
          <a:xfrm>
            <a:off x="4837176" y="1892807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865376"/>
            <a:ext cx="32461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b="1">
                <a:solidFill>
                  <a:srgbClr val="2D2D2D"/>
                </a:solidFill>
              </a:rPr>
              <a:t>Documents are stored, not read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340096" y="2112264"/>
            <a:ext cx="3246120" cy="317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A prescription photo is filed as an image; the medicines written on it never become data.</a:t>
            </a:r>
          </a:p>
        </p:txBody>
      </p:sp>
      <p:sp>
        <p:nvSpPr>
          <p:cNvPr id="18" name="Oval 17"/>
          <p:cNvSpPr/>
          <p:nvPr/>
        </p:nvSpPr>
        <p:spPr>
          <a:xfrm>
            <a:off x="4837176" y="2679191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517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Consent is a setting, not a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898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Sharing is a switch in a menu — no category, no expiry, and no trail of who saw what.</a:t>
            </a:r>
          </a:p>
        </p:txBody>
      </p:sp>
      <p:sp>
        <p:nvSpPr>
          <p:cNvPr id="21" name="Oval 20"/>
          <p:cNvSpPr/>
          <p:nvPr/>
        </p:nvSpPr>
        <p:spPr>
          <a:xfrm>
            <a:off x="4837176" y="3465575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43814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Nurses are not modelled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68503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Home nurses have no distinct role, so visit observations never reach the patient’s record.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663" y="4623524"/>
            <a:ext cx="8212907" cy="1414565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77240" y="4581144"/>
            <a:ext cx="7635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endParaRPr lang="en-US" sz="1150" b="1" i="0" spc="200">
              <a:solidFill>
                <a:srgbClr val="DDE7F4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2553" y="5326225"/>
            <a:ext cx="7540899" cy="583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Arial"/>
              </a:rPr>
              <a:t>Patients end up managing their own care across disconnected tools, families help without a safe way in, and afterwards nobody can prove who saw what. The need is one record with permission built into its structure rather than bolted on as a setting.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E53E16-8AD3-F1F8-A6DE-3F2C5B0F95FE}"/>
              </a:ext>
            </a:extLst>
          </p:cNvPr>
          <p:cNvSpPr txBox="1"/>
          <p:nvPr/>
        </p:nvSpPr>
        <p:spPr>
          <a:xfrm>
            <a:off x="812799" y="4873171"/>
            <a:ext cx="45284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WHY IT MATTERS</a:t>
            </a:r>
          </a:p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08D787-D921-4ABF-8B1D-73FD4763F2B4}"/>
              </a:ext>
            </a:extLst>
          </p:cNvPr>
          <p:cNvSpPr/>
          <p:nvPr/>
        </p:nvSpPr>
        <p:spPr>
          <a:xfrm>
            <a:off x="676656" y="344119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D06B6-1906-08B7-E621-0C0E2BB8B30F}"/>
              </a:ext>
            </a:extLst>
          </p:cNvPr>
          <p:cNvSpPr txBox="1"/>
          <p:nvPr/>
        </p:nvSpPr>
        <p:spPr>
          <a:xfrm>
            <a:off x="1179576" y="3413759"/>
            <a:ext cx="32461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50" b="1" i="0">
                <a:solidFill>
                  <a:srgbClr val="2D2D2D"/>
                </a:solidFill>
                <a:latin typeface="Arial"/>
              </a:rPr>
              <a:t>Family gets all or nothing</a:t>
            </a:r>
          </a:p>
          <a:p>
            <a:r>
              <a:rPr lang="en-US" sz="1030" b="0" i="0">
                <a:solidFill>
                  <a:srgbClr val="667085"/>
                </a:solidFill>
                <a:latin typeface="Arial"/>
              </a:rPr>
              <a:t>Caregivers are handed the full account or shut out entirely.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PROJECT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What We Set Out to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8183879" cy="658368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50" b="1" i="0">
                <a:solidFill>
                  <a:srgbClr val="0B5394"/>
                </a:solidFill>
                <a:latin typeface="Arial"/>
              </a:rPr>
              <a:t>General objective:  </a:t>
            </a:r>
            <a:r>
              <a:rPr sz="1150" b="0" i="0">
                <a:solidFill>
                  <a:srgbClr val="2D2D2D"/>
                </a:solidFill>
                <a:latin typeface="Arial"/>
              </a:rPr>
              <a:t>an integrated, consent-governed health management platform that helps patients monitor and manage their physical and mental well-being, and that lets the people who support them participate safely.</a:t>
            </a:r>
          </a:p>
        </p:txBody>
      </p:sp>
      <p:sp>
        <p:nvSpPr>
          <p:cNvPr id="7" name="Oval 6"/>
          <p:cNvSpPr/>
          <p:nvPr/>
        </p:nvSpPr>
        <p:spPr>
          <a:xfrm>
            <a:off x="630936" y="2441448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4140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Centralise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67004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Health records, medicines and reports under a single patient identity.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3300984"/>
            <a:ext cx="384048" cy="384048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735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Manage medication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5295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Parse written schedules into clock times; track stock, reminders and adherence.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" y="4160520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13308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Monitor vitals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389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Record readings and classify each one automatically against reference ranges.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" y="5020056"/>
            <a:ext cx="384048" cy="384048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9926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Track wellness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5248656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Sleep, water and steps, plus a private mood journal that can never be shared.</a:t>
            </a:r>
          </a:p>
        </p:txBody>
      </p:sp>
      <p:sp>
        <p:nvSpPr>
          <p:cNvPr id="19" name="Oval 18"/>
          <p:cNvSpPr/>
          <p:nvPr/>
        </p:nvSpPr>
        <p:spPr>
          <a:xfrm>
            <a:off x="4791456" y="2441448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4140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Read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67004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Extract medicines and lab values from uploads without ever storing the file.</a:t>
            </a:r>
          </a:p>
        </p:txBody>
      </p:sp>
      <p:sp>
        <p:nvSpPr>
          <p:cNvPr id="22" name="Oval 21"/>
          <p:cNvSpPr/>
          <p:nvPr/>
        </p:nvSpPr>
        <p:spPr>
          <a:xfrm>
            <a:off x="4791456" y="3300984"/>
            <a:ext cx="384048" cy="384048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2735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Govern 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5295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Category-scoped, time-boxed, revocable permission enforced on every read.</a:t>
            </a:r>
          </a:p>
        </p:txBody>
      </p:sp>
      <p:sp>
        <p:nvSpPr>
          <p:cNvPr id="25" name="Oval 24"/>
          <p:cNvSpPr/>
          <p:nvPr/>
        </p:nvSpPr>
        <p:spPr>
          <a:xfrm>
            <a:off x="4791456" y="4160520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413308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Connect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4389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Verified providers, appointments, care plans and home nursing.</a:t>
            </a:r>
          </a:p>
        </p:txBody>
      </p:sp>
      <p:sp>
        <p:nvSpPr>
          <p:cNvPr id="28" name="Oval 27"/>
          <p:cNvSpPr/>
          <p:nvPr/>
        </p:nvSpPr>
        <p:spPr>
          <a:xfrm>
            <a:off x="4791456" y="5020056"/>
            <a:ext cx="384048" cy="384048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49926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0B5394"/>
                </a:solidFill>
                <a:latin typeface="Arial"/>
              </a:rPr>
              <a:t>Apply data science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5248656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667085"/>
                </a:solidFill>
                <a:latin typeface="Arial"/>
              </a:rPr>
              <a:t>Feature engineering, model training and an honest, grouped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PROJECT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Six User Roles — Access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150">
                <a:solidFill>
                  <a:srgbClr val="0B5394"/>
                </a:solidFill>
                <a:latin typeface="Arial"/>
              </a:rPr>
              <a:t>ROLES IN THE SYSTEM</a:t>
            </a:r>
          </a:p>
        </p:txBody>
      </p:sp>
      <p:sp>
        <p:nvSpPr>
          <p:cNvPr id="6" name="Oval 5"/>
          <p:cNvSpPr/>
          <p:nvPr/>
        </p:nvSpPr>
        <p:spPr>
          <a:xfrm>
            <a:off x="676656" y="1892807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186537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112264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Logs vitals, medicines and lifestyle, uploads documents, and controls every share.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2679191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6517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Caregiver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2898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A family member with a read-only view of exactly the categories the patient approves.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3465575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343814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685032"/>
            <a:ext cx="3246120" cy="317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A verified clinic, hospital, lab, pharmacy, gym, dietician, yoga centre or home-nurse agency.</a:t>
            </a:r>
          </a:p>
        </p:txBody>
      </p:sp>
      <p:sp>
        <p:nvSpPr>
          <p:cNvPr id="15" name="Oval 14"/>
          <p:cNvSpPr/>
          <p:nvPr/>
        </p:nvSpPr>
        <p:spPr>
          <a:xfrm>
            <a:off x="4837176" y="1892807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865376"/>
            <a:ext cx="32461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b="1">
                <a:solidFill>
                  <a:srgbClr val="2D2D2D"/>
                </a:solidFill>
              </a:rPr>
              <a:t>Nurse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340096" y="2112264"/>
            <a:ext cx="3246120" cy="317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Assigned by an administrator; logs home visits and can escalate, but never prescribes.</a:t>
            </a:r>
          </a:p>
        </p:txBody>
      </p:sp>
      <p:sp>
        <p:nvSpPr>
          <p:cNvPr id="18" name="Oval 17"/>
          <p:cNvSpPr/>
          <p:nvPr/>
        </p:nvSpPr>
        <p:spPr>
          <a:xfrm>
            <a:off x="4837176" y="2679191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517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898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Verifies providers, approves events, handles complaints and reads the audit log.</a:t>
            </a:r>
          </a:p>
        </p:txBody>
      </p:sp>
      <p:sp>
        <p:nvSpPr>
          <p:cNvPr id="21" name="Oval 20"/>
          <p:cNvSpPr/>
          <p:nvPr/>
        </p:nvSpPr>
        <p:spPr>
          <a:xfrm>
            <a:off x="4837176" y="3465575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43814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Super Administrator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68503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30" b="0" i="0">
                <a:solidFill>
                  <a:srgbClr val="667085"/>
                </a:solidFill>
                <a:latin typeface="Arial"/>
              </a:rPr>
              <a:t>The only tier that may create administrator accounts or change platform settings.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39"/>
            <a:ext cx="8205650" cy="1225879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77240" y="4581144"/>
            <a:ext cx="7635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endParaRPr lang="en-US" sz="1150" b="1" i="0" spc="200">
              <a:solidFill>
                <a:srgbClr val="DDE7F4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2553" y="5326225"/>
            <a:ext cx="7540899" cy="583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Arial"/>
              </a:rPr>
              <a:t>Role-based access control decides which pages a user may open. The consent engine decides, separately, whether any of the patient’s data is actually returned on them — so being a provider is never by itself permission to see a patient’s record.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E53E16-8AD3-F1F8-A6DE-3F2C5B0F95FE}"/>
              </a:ext>
            </a:extLst>
          </p:cNvPr>
          <p:cNvSpPr txBox="1"/>
          <p:nvPr/>
        </p:nvSpPr>
        <p:spPr>
          <a:xfrm>
            <a:off x="776514" y="4974771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ACCESS MODEL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Thirteen Integrated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Identity, Roles &amp; Access Control</a:t>
            </a:r>
          </a:p>
          <a:p>
            <a:r>
              <a:rPr sz="1000" b="0">
                <a:solidFill>
                  <a:srgbClr val="666666"/>
                </a:solidFill>
              </a:rPr>
              <a:t>Six tiers · login lockout · suspension · session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Health Record — Vitals</a:t>
            </a:r>
          </a:p>
          <a:p>
            <a:r>
              <a:rPr sz="1000" b="0">
                <a:solidFill>
                  <a:srgbClr val="666666"/>
                </a:solidFill>
              </a:rPr>
              <a:t>BP, sugar, weight, pulse, SpO2 · auto-classified · trends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Medication &amp; Dose Scheduling</a:t>
            </a:r>
          </a:p>
          <a:p>
            <a:r>
              <a:rPr sz="1000" b="0">
                <a:solidFill>
                  <a:srgbClr val="666666"/>
                </a:solidFill>
              </a:rPr>
              <a:t>Parsed schedules · stock · adherence · refill dates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9583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Medication Alert Engine</a:t>
            </a:r>
          </a:p>
          <a:p>
            <a:r>
              <a:rPr sz="1000" b="0">
                <a:solidFill>
                  <a:srgbClr val="666666"/>
                </a:solidFill>
              </a:rPr>
              <a:t>Reminders · missed-dose alerts · restock warnings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Lifestyle &amp; Mental Wellness</a:t>
            </a:r>
          </a:p>
          <a:p>
            <a:r>
              <a:rPr sz="1000" b="0">
                <a:solidFill>
                  <a:srgbClr val="666666"/>
                </a:solidFill>
              </a:rPr>
              <a:t>Sleep, water, steps · private mood journal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Document Intelligence</a:t>
            </a:r>
          </a:p>
          <a:p>
            <a:r>
              <a:rPr sz="1000" b="0">
                <a:solidFill>
                  <a:srgbClr val="666666"/>
                </a:solidFill>
              </a:rPr>
              <a:t>Local OCR + LLM parse · confirm · nothing stored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766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Laboratory Results</a:t>
            </a:r>
          </a:p>
          <a:p>
            <a:r>
              <a:rPr sz="1000" b="0">
                <a:solidFill>
                  <a:srgbClr val="666666"/>
                </a:solidFill>
              </a:rPr>
              <a:t>Analyte values, flags and per-analyte trends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171907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75564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Analytics &amp; Insights</a:t>
            </a:r>
          </a:p>
          <a:p>
            <a:r>
              <a:rPr sz="1000" b="0">
                <a:solidFill>
                  <a:srgbClr val="666666"/>
                </a:solidFill>
              </a:rPr>
              <a:t>Health score · eight rules · evidence for every observation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232257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359152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Consent Engine</a:t>
            </a:r>
          </a:p>
          <a:p>
            <a:r>
              <a:rPr sz="1000" b="0">
                <a:solidFill>
                  <a:srgbClr val="666666"/>
                </a:solidFill>
              </a:rPr>
              <a:t>Ten scoped categories · expiry · revocation · audit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Caregiver Module</a:t>
            </a:r>
          </a:p>
          <a:p>
            <a:r>
              <a:rPr sz="1000" b="0">
                <a:solidFill>
                  <a:srgbClr val="666666"/>
                </a:solidFill>
              </a:rPr>
              <a:t>Link by ID, e-mail or invite · new-device approval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529583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566160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Provider Marketplace &amp; Care Loop</a:t>
            </a:r>
          </a:p>
          <a:p>
            <a:r>
              <a:rPr sz="1000" b="0">
                <a:solidFill>
                  <a:srgbClr val="666666"/>
                </a:solidFill>
              </a:rPr>
              <a:t>Verification · six service modules · appointments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133088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169664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Nursing</a:t>
            </a:r>
          </a:p>
          <a:p>
            <a:r>
              <a:rPr sz="1000" b="0">
                <a:solidFill>
                  <a:srgbClr val="666666"/>
                </a:solidFill>
              </a:rPr>
              <a:t>Assignments · home-visit logging · escalation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3659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7316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Administration &amp; Audit Trail</a:t>
            </a:r>
          </a:p>
          <a:p>
            <a:r>
              <a:rPr sz="1000" b="0">
                <a:solidFill>
                  <a:srgbClr val="666666"/>
                </a:solidFill>
              </a:rPr>
              <a:t>Verification queue · moderation · append-only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Layered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10512"/>
            <a:ext cx="8183879" cy="93268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0664" y="1993392"/>
            <a:ext cx="566928" cy="56692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965960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B5394"/>
                </a:solidFill>
                <a:latin typeface="Arial"/>
              </a:rP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313432"/>
            <a:ext cx="6903720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>
                <a:solidFill>
                  <a:srgbClr val="667085"/>
                </a:solidFill>
                <a:latin typeface="Arial"/>
              </a:rPr>
              <a:t>Django Templates (DTL) · HTML5 / CSS3 · vanilla JavaScript — role-specific dashboards, forms and server-computed SVG trend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26080"/>
            <a:ext cx="8183879" cy="93268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3108960"/>
            <a:ext cx="566928" cy="566928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308152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B5394"/>
                </a:solidFill>
                <a:latin typeface="Arial"/>
              </a:rPr>
              <a:t>Application Layer — Django MVT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429000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>
                <a:solidFill>
                  <a:srgbClr val="667085"/>
                </a:solidFill>
                <a:latin typeface="Arial"/>
              </a:rPr>
              <a:t>Seven apps: accounts · health · providers · nursing · adminpanel · datascience · core — RBAC, routing, business logic and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41648"/>
            <a:ext cx="8183879" cy="93268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0664" y="4224528"/>
            <a:ext cx="566928" cy="56692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4197096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B5394"/>
                </a:solidFill>
                <a:latin typeface="Arial"/>
              </a:rPr>
              <a:t>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544568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>
                <a:solidFill>
                  <a:srgbClr val="667085"/>
                </a:solidFill>
                <a:latin typeface="Arial"/>
              </a:rPr>
              <a:t>Local OCR with optional LLM structuring · rule-based analytics and alerting · rule-plus-model recommendation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57216"/>
            <a:ext cx="8183879" cy="93268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0664" y="5340096"/>
            <a:ext cx="566928" cy="566928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531266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B5394"/>
                </a:solidFill>
                <a:latin typeface="Arial"/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660136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>
                <a:solidFill>
                  <a:srgbClr val="667085"/>
                </a:solidFill>
                <a:latin typeface="Arial"/>
              </a:rPr>
              <a:t>MySQL 8 primary store · in-memory upload buffer that is never written to disk · static file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956816" cy="50292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496312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Django 5.x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Python web framework (MVT)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52044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Python 3.13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Core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544568"/>
            <a:ext cx="1664208" cy="33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Django ORM</a:t>
            </a:r>
            <a:endParaRPr sz="1130" b="1" i="0">
              <a:solidFill>
                <a:srgbClr val="0B5394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Models &amp;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17830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33472" y="1783080"/>
            <a:ext cx="1956816" cy="502920"/>
          </a:xfrm>
          <a:prstGeom prst="roundRect">
            <a:avLst>
              <a:gd name="adj" fmla="val 6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2496312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MySQL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Primary database (utf8mb4)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352044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SQLite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Optional local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4544568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In-memory buffer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Uploads, never on disk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17830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64024" y="1783080"/>
            <a:ext cx="1956816" cy="50292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496312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HTML5 / CSS3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Responsive, no build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552443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Django Templates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Server-rendered (DTL)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94576" y="17830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94576" y="1783080"/>
            <a:ext cx="1956816" cy="502920"/>
          </a:xfrm>
          <a:prstGeom prst="roundRect">
            <a:avLst>
              <a:gd name="adj" fmla="val 6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 &amp; Tooling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496312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Tesseract · Pillow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Local OCR &amp; image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52044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Gemini API (optional)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Structuring OCR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544568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scikit-learn · joblib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Training &amp; persistence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4928616" y="4544568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1" i="0">
                <a:solidFill>
                  <a:srgbClr val="0B5394"/>
                </a:solidFill>
                <a:latin typeface="Arial"/>
              </a:rPr>
              <a:t>Vanilla JavaScript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67085"/>
                </a:solidFill>
                <a:latin typeface="Arial"/>
              </a:rPr>
              <a:t>Two small inline scripts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Health Record, Medication &amp; Wellness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Vitals capture</a:t>
            </a:r>
          </a:p>
          <a:p>
            <a:r>
              <a:rPr sz="1000" b="0">
                <a:solidFill>
                  <a:srgbClr val="666666"/>
                </a:solidFill>
              </a:rPr>
              <a:t>BP, sugar, weight, pulse and SpO2 — only what was actually measured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Automatic flagging</a:t>
            </a:r>
          </a:p>
          <a:p>
            <a:r>
              <a:rPr sz="1000" b="0">
                <a:solidFill>
                  <a:srgbClr val="666666"/>
                </a:solidFill>
              </a:rPr>
              <a:t>Every reading classified Normal, Watch or High on save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Provenance</a:t>
            </a:r>
          </a:p>
          <a:p>
            <a:r>
              <a:rPr sz="1000" b="0">
                <a:solidFill>
                  <a:srgbClr val="666666"/>
                </a:solidFill>
              </a:rPr>
              <a:t>Self-recorded, nurse visit, caregiver or read from a lab report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9583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Trend charts</a:t>
            </a:r>
          </a:p>
          <a:p>
            <a:r>
              <a:rPr sz="1000" b="0">
                <a:solidFill>
                  <a:srgbClr val="666666"/>
                </a:solidFill>
              </a:rPr>
              <a:t>Server-computed SVG polylines — no client charting library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Medicines</a:t>
            </a:r>
          </a:p>
          <a:p>
            <a:r>
              <a:rPr sz="1000" b="0">
                <a:solidFill>
                  <a:srgbClr val="666666"/>
                </a:solidFill>
              </a:rPr>
              <a:t>Name, dose, written schedule, course length and quantity dispensed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Dose-time parsing</a:t>
            </a:r>
          </a:p>
          <a:p>
            <a:r>
              <a:rPr sz="1000" b="0">
                <a:solidFill>
                  <a:srgbClr val="666666"/>
                </a:solidFill>
              </a:rPr>
              <a:t>1-0-1, BD, TDS, OD, HS and plain English turned into clock times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766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Honest failure</a:t>
            </a:r>
          </a:p>
          <a:p>
            <a:r>
              <a:rPr sz="1000" b="0">
                <a:solidFill>
                  <a:srgbClr val="666666"/>
                </a:solidFill>
              </a:rPr>
              <a:t>An unreadable schedule is flagged for the patient, never guessed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171907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75564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Stock &amp; refill</a:t>
            </a:r>
          </a:p>
          <a:p>
            <a:r>
              <a:rPr sz="1000" b="0">
                <a:solidFill>
                  <a:srgbClr val="666666"/>
                </a:solidFill>
              </a:rPr>
              <a:t>Counts down as doses are ticked; the refill date is derived, not typed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232257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359152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Adherence</a:t>
            </a:r>
          </a:p>
          <a:p>
            <a:r>
              <a:rPr sz="1000" b="0">
                <a:solidFill>
                  <a:srgbClr val="666666"/>
                </a:solidFill>
              </a:rPr>
              <a:t>Percentage of scheduled doses taken over a configurable window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Dose reminder</a:t>
            </a:r>
          </a:p>
          <a:p>
            <a:r>
              <a:rPr sz="1000" b="0">
                <a:solidFill>
                  <a:srgbClr val="666666"/>
                </a:solidFill>
              </a:rPr>
              <a:t>Raised when the scheduled time arrives and the dose is not ticked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529583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566160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Missed-dose alert</a:t>
            </a:r>
          </a:p>
          <a:p>
            <a:r>
              <a:rPr sz="1000" b="0">
                <a:solidFill>
                  <a:srgbClr val="666666"/>
                </a:solidFill>
              </a:rPr>
              <a:t>Raised once the grace period passes — each alert rule is idempotent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133088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169664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Restock warning</a:t>
            </a:r>
          </a:p>
          <a:p>
            <a:r>
              <a:rPr sz="1000" b="0">
                <a:solidFill>
                  <a:srgbClr val="666666"/>
                </a:solidFill>
              </a:rPr>
              <a:t>Raised before supply runs out, with a twenty-hour quiet period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3659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7316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Lifestyle &amp; mood</a:t>
            </a:r>
          </a:p>
          <a:p>
            <a:r>
              <a:rPr sz="1000" b="0">
                <a:solidFill>
                  <a:srgbClr val="666666"/>
                </a:solidFill>
              </a:rPr>
              <a:t>Sleep, water and steps · private mood journal with a month calendar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Document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Prescription Extractor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Local OCR +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Reads an upload in memory and extracts medicine, dose, frequency and duration, each with a confidence band the patient confirms.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Lab Report 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Analyte · value ·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Extracts each analyte with its unit and range, flags it Low, High or Normal, and routes any vitals into the vitals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Process and Discard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Nothing is stored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The bytes are held in memory only and released before the response returns; the text is cleared on confirm or discard.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A per-upload consent tick is required and refusals are written to the audit log. With no model key configured the local rule-based parser is used and nothing leaves the machine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Document Processing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95044" y="2121408"/>
            <a:ext cx="603504" cy="60350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36391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The patient uploads a prescription or lab report and ticks the consent 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1965960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93108" y="2121408"/>
            <a:ext cx="603504" cy="60350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834639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Recognise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136391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Tesseract reads the image locally; a PDF text layer is read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965960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91172" y="2121408"/>
            <a:ext cx="603504" cy="60350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834639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136391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An LLM parses the text into fields, falling back to the local rule parser.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79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495044" y="3995927"/>
            <a:ext cx="603504" cy="60350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59"/>
            <a:ext cx="23134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50" b="1" i="0">
                <a:solidFill>
                  <a:srgbClr val="0B5394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10912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The patient reviews, corrects and confirms every row before anything is saved.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0984" y="3840479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93108" y="3995927"/>
            <a:ext cx="603504" cy="60350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4709159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5010912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Medicines become dose schedules; lab values split into vitals and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8" y="3840479"/>
            <a:ext cx="25877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91172" y="3995927"/>
            <a:ext cx="603504" cy="60350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4709159"/>
            <a:ext cx="23134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350" b="1">
                <a:solidFill>
                  <a:srgbClr val="0B5394"/>
                </a:solidFill>
              </a:rPr>
              <a:t>Discard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5010912"/>
            <a:ext cx="22219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sz="1060" b="0" i="0">
                <a:solidFill>
                  <a:srgbClr val="667085"/>
                </a:solidFill>
                <a:latin typeface="Arial"/>
              </a:rPr>
              <a:t>The bytes were already released; the transcribed text is now cleared too.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Consent Engine &amp; Record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 grant is an object</a:t>
            </a:r>
          </a:p>
          <a:p>
            <a:r>
              <a:rPr sz="1000" b="0">
                <a:solidFill>
                  <a:srgbClr val="666666"/>
                </a:solidFill>
              </a:rPr>
              <a:t>One named patient to one named recipient — never to “anyone”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Ten scoped categories</a:t>
            </a:r>
          </a:p>
          <a:p>
            <a:r>
              <a:rPr sz="1000" b="0">
                <a:solidFill>
                  <a:srgbClr val="666666"/>
                </a:solidFill>
              </a:rPr>
              <a:t>Vitals, medications, appointments, alerts, emergency, lifestyle and more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Standard vs restricted</a:t>
            </a:r>
          </a:p>
          <a:p>
            <a:r>
              <a:rPr sz="1000" b="0">
                <a:solidFill>
                  <a:srgbClr val="666666"/>
                </a:solidFill>
              </a:rPr>
              <a:t>Records, documents, reports and the AI summary are never on by default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9583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Time-boxed or open</a:t>
            </a:r>
          </a:p>
          <a:p>
            <a:r>
              <a:rPr sz="1000" b="0">
                <a:solidFill>
                  <a:srgbClr val="666666"/>
                </a:solidFill>
              </a:rPr>
              <a:t>A grant may carry an expiry; an expired grant is inactive at once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Revocation</a:t>
            </a:r>
          </a:p>
          <a:p>
            <a:r>
              <a:rPr sz="1000" b="0">
                <a:solidFill>
                  <a:srgbClr val="666666"/>
                </a:solidFill>
              </a:rPr>
              <a:t>Recorded, not deleted — the grant and its withdrawal both stay visible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Effective immediately</a:t>
            </a:r>
          </a:p>
          <a:p>
            <a:r>
              <a:rPr sz="1000" b="0">
                <a:solidFill>
                  <a:srgbClr val="666666"/>
                </a:solidFill>
              </a:rPr>
              <a:t>Revocation applies on the recipient’s very next request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766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Share passcode</a:t>
            </a:r>
          </a:p>
          <a:p>
            <a:r>
              <a:rPr sz="1000" b="0">
                <a:solidFill>
                  <a:srgbClr val="666666"/>
                </a:solidFill>
              </a:rPr>
              <a:t>Every grant carries its own passcode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171907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75564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Single-pass resolution</a:t>
            </a:r>
          </a:p>
          <a:p>
            <a:r>
              <a:rPr sz="1000" b="0">
                <a:solidFill>
                  <a:srgbClr val="666666"/>
                </a:solidFill>
              </a:rPr>
              <a:t>All ten categories resolved in one query, not one query per category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232257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359152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Enforced on every read</a:t>
            </a:r>
          </a:p>
          <a:p>
            <a:r>
              <a:rPr sz="1000" b="0">
                <a:solidFill>
                  <a:srgbClr val="666666"/>
                </a:solidFill>
              </a:rPr>
              <a:t>One function decides; the role check and the consent check stay separate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Mental health excluded</a:t>
            </a:r>
          </a:p>
          <a:p>
            <a:r>
              <a:rPr sz="1000" b="0">
                <a:solidFill>
                  <a:srgbClr val="666666"/>
                </a:solidFill>
              </a:rPr>
              <a:t>No scope value resolves to the mood journal — enforced structurally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529583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566160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Pre-visit snapshot</a:t>
            </a:r>
          </a:p>
          <a:p>
            <a:r>
              <a:rPr sz="1000" b="0">
                <a:solidFill>
                  <a:srgbClr val="666666"/>
                </a:solidFill>
              </a:rPr>
              <a:t>A one-click, time-boxed share of vitals and medications before a visit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133088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169664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Audited both ways</a:t>
            </a:r>
          </a:p>
          <a:p>
            <a:r>
              <a:rPr sz="1000" b="0">
                <a:solidFill>
                  <a:srgbClr val="666666"/>
                </a:solidFill>
              </a:rPr>
              <a:t>Grants, withdrawals and refused access attempts are all logged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3659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7316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Admin cannot approve</a:t>
            </a:r>
          </a:p>
          <a:p>
            <a:r>
              <a:rPr sz="1000" b="0">
                <a:solidFill>
                  <a:srgbClr val="666666"/>
                </a:solidFill>
              </a:rPr>
              <a:t>An administrator may revoke a caregiver link but never approve 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The Caregiver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Three Ways to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ID · e-mail · invite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A caregiver names their patient by CareNest ID, e-mail address or a single-use invite code. The link is created pending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The Patient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Approve or 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Nothing is visible until the patient approves. Approval grants the everyday categories only; restricted ones stay withheld.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New-Device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Secure sign-in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The first device is trusted; a later one is held pending approval. An unapproved device can sign in but sees no patient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A module the patient has not granted is absent from the caregiver dashboard rather than shown greyed out, and the dashboard lists plainly which categories are being withheld.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Provider Marketplace &amp; Care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Nine provider types</a:t>
            </a:r>
          </a:p>
          <a:p>
            <a:r>
              <a:rPr sz="1000" b="0">
                <a:solidFill>
                  <a:srgbClr val="666666"/>
                </a:solidFill>
              </a:rPr>
              <a:t>Clinic, hospital, psychologist, lab, pharmacy, gym, dietician, yoga, home nurse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Six service modules</a:t>
            </a:r>
          </a:p>
          <a:p>
            <a:r>
              <a:rPr sz="1000" b="0">
                <a:solidFill>
                  <a:srgbClr val="666666"/>
                </a:solidFill>
              </a:rPr>
              <a:t>Each group gets the dashboard its own workflow actually needs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Document verification</a:t>
            </a:r>
          </a:p>
          <a:p>
            <a:r>
              <a:rPr sz="1000" b="0">
                <a:solidFill>
                  <a:srgbClr val="666666"/>
                </a:solidFill>
              </a:rPr>
              <a:t>Registration certificate, government ID, organisation info, address proof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9583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Admin decision</a:t>
            </a:r>
          </a:p>
          <a:p>
            <a:r>
              <a:rPr sz="1000" b="0">
                <a:solidFill>
                  <a:srgbClr val="666666"/>
                </a:solidFill>
              </a:rPr>
              <a:t>Approve, request more information, or reject — three distinct outcomes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Unverified is invisible</a:t>
            </a:r>
          </a:p>
          <a:p>
            <a:r>
              <a:rPr sz="1000" b="0">
                <a:solidFill>
                  <a:srgbClr val="666666"/>
                </a:solidFill>
              </a:rPr>
              <a:t>A provider who is not verified never appears in the patient directory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Services &amp; pricing</a:t>
            </a:r>
          </a:p>
          <a:p>
            <a:r>
              <a:rPr sz="1000" b="0">
                <a:solidFill>
                  <a:srgbClr val="666666"/>
                </a:solidFill>
              </a:rPr>
              <a:t>Every group publishes a service list with description, price and duration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766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Availability windows</a:t>
            </a:r>
          </a:p>
          <a:p>
            <a:r>
              <a:rPr sz="1000" b="0">
                <a:solidFill>
                  <a:srgbClr val="666666"/>
                </a:solidFill>
              </a:rPr>
              <a:t>A weekly pattern with a slot length; bookings outside it are refused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171907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75564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Appointments</a:t>
            </a:r>
          </a:p>
          <a:p>
            <a:r>
              <a:rPr sz="1000" b="0">
                <a:solidFill>
                  <a:srgbClr val="666666"/>
                </a:solidFill>
              </a:rPr>
              <a:t>Requested, confirmed, completed, declined and cancelled states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232257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359152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Consultation record</a:t>
            </a:r>
          </a:p>
          <a:p>
            <a:r>
              <a:rPr sz="1000" b="0">
                <a:solidFill>
                  <a:srgbClr val="666666"/>
                </a:solidFill>
              </a:rPr>
              <a:t>Diagnosis, advice and a follow-up date against a completed appointment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Care plans</a:t>
            </a:r>
          </a:p>
          <a:p>
            <a:r>
              <a:rPr sz="1000" b="0">
                <a:solidFill>
                  <a:srgbClr val="666666"/>
                </a:solidFill>
              </a:rPr>
              <a:t>One measurable target with a direction and a review date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529583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566160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Progress from real data</a:t>
            </a:r>
          </a:p>
          <a:p>
            <a:r>
              <a:rPr sz="1000" b="0">
                <a:solidFill>
                  <a:srgbClr val="666666"/>
                </a:solidFill>
              </a:rPr>
              <a:t>A care plan reads the patient’s own readings — never a guessed number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133088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169664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Pre-visit snapshot</a:t>
            </a:r>
          </a:p>
          <a:p>
            <a:r>
              <a:rPr sz="1000" b="0">
                <a:solidFill>
                  <a:srgbClr val="666666"/>
                </a:solidFill>
              </a:rPr>
              <a:t>Consent-gated, and every view is written to the audit log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3659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7316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Health camps &amp; events</a:t>
            </a:r>
          </a:p>
          <a:p>
            <a:r>
              <a:rPr sz="1000" b="0">
                <a:solidFill>
                  <a:srgbClr val="666666"/>
                </a:solidFill>
              </a:rPr>
              <a:t>Submitted by providers, hidden from patients until an admin approves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Finding &amp; Booking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Provider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Search &amp;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Patients browse only administrator-verified providers, filtered by service group, provider type, or a name and specialty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Location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Area · city · pincode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A location box narrows that verified list to providers whose address matches the area, city or pincode the patient enters.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NEARBY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Booking &amp; Care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Appointment to follow-up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The patient books inside published hours; the provider confirms, records the consultation and sets a care-plan target.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Location filtering is applied on top of the verified-provider query, so it can only ever narrow the list a patient is already allowed to see — never widen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Nursing, Administration &amp;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Nurse assignment</a:t>
            </a:r>
          </a:p>
          <a:p>
            <a:r>
              <a:rPr sz="1000" b="0">
                <a:solidFill>
                  <a:srgbClr val="666666"/>
                </a:solidFill>
              </a:rPr>
              <a:t>Created only by an administrator — never self-service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Assigned patients only</a:t>
            </a:r>
          </a:p>
          <a:p>
            <a:r>
              <a:rPr sz="1000" b="0">
                <a:solidFill>
                  <a:srgbClr val="666666"/>
                </a:solidFill>
              </a:rPr>
              <a:t>Any other patient returns a not-found response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Home-visit logging</a:t>
            </a:r>
          </a:p>
          <a:p>
            <a:r>
              <a:rPr sz="1000" b="0">
                <a:solidFill>
                  <a:srgbClr val="666666"/>
                </a:solidFill>
              </a:rPr>
              <a:t>Time, notes and the medicines administered during the visit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9583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Nurse-tagged vitals</a:t>
            </a:r>
          </a:p>
          <a:p>
            <a:r>
              <a:rPr sz="1000" b="0">
                <a:solidFill>
                  <a:srgbClr val="666666"/>
                </a:solidFill>
              </a:rPr>
              <a:t>Readings taken on a visit enter the patient’s own history with provenance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Escalation</a:t>
            </a:r>
          </a:p>
          <a:p>
            <a:r>
              <a:rPr sz="1000" b="0">
                <a:solidFill>
                  <a:srgbClr val="666666"/>
                </a:solidFill>
              </a:rPr>
              <a:t>Raised with a reason and a severity, surfaced to the administrator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 hard boundary</a:t>
            </a:r>
          </a:p>
          <a:p>
            <a:r>
              <a:rPr sz="1000" b="0">
                <a:solidFill>
                  <a:srgbClr val="666666"/>
                </a:solidFill>
              </a:rPr>
              <a:t>No code path lets a nurse prescribe or alter a care plan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766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Verification queue</a:t>
            </a:r>
          </a:p>
          <a:p>
            <a:r>
              <a:rPr sz="1000" b="0">
                <a:solidFill>
                  <a:srgbClr val="666666"/>
                </a:solidFill>
              </a:rPr>
              <a:t>The administrator’s review workflow for every provider application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1719072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75564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User management</a:t>
            </a:r>
          </a:p>
          <a:p>
            <a:r>
              <a:rPr sz="1000" b="0">
                <a:solidFill>
                  <a:srgbClr val="666666"/>
                </a:solidFill>
              </a:rPr>
              <a:t>Search accounts, suspend or reinstate — never delete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2322576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359152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Complaints</a:t>
            </a:r>
          </a:p>
          <a:p>
            <a:r>
              <a:rPr sz="1000" b="0">
                <a:solidFill>
                  <a:srgbClr val="666666"/>
                </a:solidFill>
              </a:rPr>
              <a:t>Any user can file a report; admins resolve or dismiss with a note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Announcements</a:t>
            </a:r>
          </a:p>
          <a:p>
            <a:r>
              <a:rPr sz="1000" b="0">
                <a:solidFill>
                  <a:srgbClr val="666666"/>
                </a:solidFill>
              </a:rPr>
              <a:t>Published to a chosen audience and fanned out as notifications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529583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566160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Platform settings</a:t>
            </a:r>
          </a:p>
          <a:p>
            <a:r>
              <a:rPr sz="1000" b="0">
                <a:solidFill>
                  <a:srgbClr val="666666"/>
                </a:solidFill>
              </a:rPr>
              <a:t>Super-Administrator only — registration and device-approval switches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133088"/>
            <a:ext cx="365760" cy="365760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169664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Live platform metrics</a:t>
            </a:r>
          </a:p>
          <a:p>
            <a:r>
              <a:rPr sz="1000" b="0">
                <a:solidFill>
                  <a:srgbClr val="666666"/>
                </a:solidFill>
              </a:rPr>
              <a:t>Users, pending verifications, active shares, escalations, complaints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36592"/>
            <a:ext cx="365760" cy="36576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73168"/>
            <a:ext cx="32918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D2D2D"/>
                </a:solidFill>
                <a:latin typeface="Arial"/>
              </a:rPr>
              <a:t>Append-only audit log</a:t>
            </a:r>
          </a:p>
          <a:p>
            <a:r>
              <a:rPr sz="1000" b="0">
                <a:solidFill>
                  <a:srgbClr val="666666"/>
                </a:solidFill>
              </a:rPr>
              <a:t>Every consequential action, keeping the actor’s name after deletion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Analytics &amp; Recommendation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Analytics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Score · trends ·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A 0-100 health score plus eight rule-based observations, each storing the evidence that produced it and showing it to the patient.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Synthetic 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Reproducible · seeded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A seeded command generates the training data. Hidden tendencies shape each patient’s logs but are never a model input feature.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Rule + Model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Eligibility then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A rule decides eligibility; a trained classifier ranks it. At most three are returned, each explained by the patient’s own numbers.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Nine features are computed from a rolling fourteen-day window, the same way at training time and at prediction time. The engine never reads mental-health data and never reaches a provider or caregiver.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NON-FUNCTIONAL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Security &amp; Privacy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Enforced at the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Role gating is applied in the view layer, not by hiding links. Passwords are hashed and every state-changing request carries a 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Brute-Force Defence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Lockout · suspension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Five failed attempts per e-mail and per IP lock sign-in for fifteen minutes. A suspended account is ejected from any open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Structural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Not a setting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The mood journal is unreachable through any sharing path because no scope covers it. Uploads simply cannot reach the disk.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Secrets are read from the environment and never committed. Refused access attempts are audited as well as successful ones — which is what a privacy audit actually needs.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How the System Was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Automated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134 tests · 4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Registration, access control, caregiver approval, consent scope and expiry, extraction, the care loop and nursing — end to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947672"/>
            <a:ext cx="512064" cy="512064"/>
          </a:xfrm>
          <a:prstGeom prst="ellipse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Black-Box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3" y="2974770"/>
            <a:ext cx="21762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Real journeys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Every role’s journey walked through the interface, plus validation cases for malformed readings, dates and unparseable schedules.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783080"/>
            <a:ext cx="258775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9464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350" b="1" i="0">
                <a:solidFill>
                  <a:srgbClr val="0B5394"/>
                </a:solidFill>
                <a:latin typeface="Arial"/>
              </a:rPr>
              <a:t>Security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063239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1">
                <a:solidFill>
                  <a:srgbClr val="A8841F"/>
                </a:solidFill>
                <a:latin typeface="Arial"/>
              </a:rPr>
              <a:t>17 cases · all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74136"/>
            <a:ext cx="21762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67085"/>
                </a:solidFill>
                <a:latin typeface="Arial"/>
              </a:rPr>
              <a:t>Role gating, tier separation, brute force, uploads never touching disk, mental health having no scope, and patient isolation.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34340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8183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Every privacy and access-control guarantee claimed in the report is asserted by an automated test rather than only described — which is what makes the claims checkable.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B5394"/>
                </a:solidFill>
                <a:latin typeface="Arial"/>
              </a:rPr>
              <a:t>Test Execution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251425"/>
              </p:ext>
            </p:extLst>
          </p:nvPr>
        </p:nvGraphicFramePr>
        <p:xfrm>
          <a:off x="502920" y="1828800"/>
          <a:ext cx="81838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54864" marT="18288" marB="18288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54864" marT="18288" marB="18288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73152" marR="54864" marT="18288" marB="18288" anchor="ctr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2D2D2D"/>
                          </a:solidFill>
                          <a:latin typeface="Arial"/>
                        </a:rPr>
                        <a:t>Automated tests executed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Across four test modules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125  (93.3 %)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Every security and privacy case passed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Not passed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Two root causes — stale test fixtures, not app defects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Security &amp; privacy cases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17 of 17 passed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</a:rPr>
                        <a:t>Role gating, consent, isolation, uploads, audit</a:t>
                      </a:r>
                    </a:p>
                  </a:txBody>
                  <a:tcPr marL="73152" marR="54864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60720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</a:pPr>
            <a:r>
              <a:rPr sz="1100" b="1" i="0">
                <a:solidFill>
                  <a:srgbClr val="0B5394"/>
                </a:solidFill>
                <a:latin typeface="Arial"/>
              </a:rPr>
              <a:t>The nine non-passing tests trace to two causes, and neither is a defect in the application: in both cases the system behaves as specified and the test simply encodes an expectation that a later change superseded.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20">
                <a:solidFill>
                  <a:srgbClr val="A8841F"/>
                </a:solidFill>
                <a:latin typeface="Arial"/>
              </a:rPr>
              <a:t>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600" b="1" i="0">
                <a:solidFill>
                  <a:srgbClr val="0B5394"/>
                </a:solidFill>
                <a:latin typeface="Arial"/>
              </a:rPr>
              <a:t>Limitations &amp; Future Enhancements</a:t>
            </a:r>
            <a:endParaRPr sz="2600" b="1" i="0">
              <a:solidFill>
                <a:srgbClr val="0B539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83879" cy="20116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101"/>
          <p:cNvSpPr/>
          <p:nvPr/>
        </p:nvSpPr>
        <p:spPr>
          <a:xfrm>
            <a:off x="484632" y="1779468"/>
            <a:ext cx="2594626" cy="685800"/>
          </a:xfrm>
          <a:prstGeom prst="roundRect">
            <a:avLst>
              <a:gd name="adj" fmla="val 14000"/>
            </a:avLst>
          </a:prstGeom>
          <a:solidFill>
            <a:srgbClr val="0B539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ht102"/>
          <p:cNvSpPr txBox="1"/>
          <p:nvPr/>
        </p:nvSpPr>
        <p:spPr>
          <a:xfrm>
            <a:off x="612648" y="1779468"/>
            <a:ext cx="2338594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900" b="1" spc="200">
                <a:solidFill>
                  <a:srgbClr val="FFFFFF"/>
                </a:solidFill>
                <a:latin typeface="Arial"/>
              </a:rPr>
              <a:t>PHASE 01</a:t>
            </a: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Immediate</a:t>
            </a:r>
          </a:p>
        </p:txBody>
      </p:sp>
      <p:sp>
        <p:nvSpPr>
          <p:cNvPr id="103" name="c103"/>
          <p:cNvSpPr/>
          <p:nvPr/>
        </p:nvSpPr>
        <p:spPr>
          <a:xfrm>
            <a:off x="484632" y="2556708"/>
            <a:ext cx="2594626" cy="3003292"/>
          </a:xfrm>
          <a:prstGeom prst="roundRect">
            <a:avLst>
              <a:gd name="adj" fmla="val 7000"/>
            </a:avLst>
          </a:prstGeom>
          <a:solidFill>
            <a:srgbClr val="F1F5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bt104"/>
          <p:cNvSpPr txBox="1"/>
          <p:nvPr/>
        </p:nvSpPr>
        <p:spPr>
          <a:xfrm>
            <a:off x="621792" y="2684724"/>
            <a:ext cx="2320306" cy="2747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900"/>
              </a:spcAft>
            </a:pPr>
            <a:r>
              <a:rPr sz="950" i="1">
                <a:solidFill>
                  <a:srgbClr val="6B7480"/>
                </a:solidFill>
                <a:latin typeface="Arial"/>
              </a:rPr>
              <a:t>Before any further claim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0B5394"/>
                </a:solidFill>
                <a:latin typeface="Arial"/>
              </a:rPr>
              <a:t xml:space="preserve">✓  Regenerate model metrics at the designed cohort size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0B5394"/>
                </a:solidFill>
                <a:latin typeface="Arial"/>
              </a:rPr>
              <a:t xml:space="preserve">✓  Repair the nine stale test fixtures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0B5394"/>
                </a:solidFill>
                <a:latin typeface="Arial"/>
              </a:rPr>
              <a:t xml:space="preserve">✓  Add tests for the six provider service modules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0B5394"/>
                </a:solidFill>
                <a:latin typeface="Arial"/>
              </a:rPr>
              <a:t xml:space="preserve">✓  Set DEBUG to false and rotate the keys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0B5394"/>
                </a:solidFill>
                <a:latin typeface="Arial"/>
              </a:rPr>
              <a:t xml:space="preserve"/>
            </a:r>
            <a:r>
              <a:rPr sz="10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105" name="c105"/>
          <p:cNvSpPr/>
          <p:nvPr/>
        </p:nvSpPr>
        <p:spPr>
          <a:xfrm>
            <a:off x="3279258" y="1779468"/>
            <a:ext cx="2594626" cy="685800"/>
          </a:xfrm>
          <a:prstGeom prst="roundRect">
            <a:avLst>
              <a:gd name="adj" fmla="val 14000"/>
            </a:avLst>
          </a:prstGeom>
          <a:solidFill>
            <a:srgbClr val="BF9B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ht106"/>
          <p:cNvSpPr txBox="1"/>
          <p:nvPr/>
        </p:nvSpPr>
        <p:spPr>
          <a:xfrm>
            <a:off x="3407274" y="1779468"/>
            <a:ext cx="2338594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900" b="1" spc="200">
                <a:solidFill>
                  <a:srgbClr val="FFFFFF"/>
                </a:solidFill>
                <a:latin typeface="Arial"/>
              </a:rPr>
              <a:t>PHASE 02</a:t>
            </a: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Short Term</a:t>
            </a:r>
          </a:p>
        </p:txBody>
      </p:sp>
      <p:sp>
        <p:nvSpPr>
          <p:cNvPr id="107" name="c107"/>
          <p:cNvSpPr/>
          <p:nvPr/>
        </p:nvSpPr>
        <p:spPr>
          <a:xfrm>
            <a:off x="3279258" y="2556708"/>
            <a:ext cx="2594626" cy="3003292"/>
          </a:xfrm>
          <a:prstGeom prst="roundRect">
            <a:avLst>
              <a:gd name="adj" fmla="val 7000"/>
            </a:avLst>
          </a:prstGeom>
          <a:solidFill>
            <a:srgbClr val="FBF6E9"/>
          </a:solidFill>
          <a:ln w="9525">
            <a:solidFill>
              <a:srgbClr val="EAD9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bt108"/>
          <p:cNvSpPr txBox="1"/>
          <p:nvPr/>
        </p:nvSpPr>
        <p:spPr>
          <a:xfrm>
            <a:off x="3416418" y="2684724"/>
            <a:ext cx="2320306" cy="2747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900"/>
              </a:spcAft>
            </a:pPr>
            <a:r>
              <a:rPr sz="950" i="1">
                <a:solidFill>
                  <a:srgbClr val="6B7480"/>
                </a:solidFill>
                <a:latin typeface="Arial"/>
              </a:rPr>
              <a:t>Next release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A8841F"/>
                </a:solidFill>
                <a:latin typeface="Arial"/>
              </a:rPr>
              <a:t xml:space="preserve">▸  Real Terms of Service and Privacy Policy pages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A8841F"/>
                </a:solidFill>
                <a:latin typeface="Arial"/>
              </a:rPr>
              <a:t xml:space="preserve">▸  The weekly caregiver summary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A8841F"/>
                </a:solidFill>
                <a:latin typeface="Arial"/>
              </a:rPr>
              <a:t xml:space="preserve">▸  Push and SMS notification delivery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A8841F"/>
                </a:solidFill>
                <a:latin typeface="Arial"/>
              </a:rPr>
              <a:t xml:space="preserve">▸  A formal accessibility audit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A8841F"/>
                </a:solidFill>
                <a:latin typeface="Arial"/>
              </a:rPr>
              <a:t xml:space="preserve">▸  Load testing and cross-browser verification</a:t>
            </a:r>
          </a:p>
        </p:txBody>
      </p:sp>
      <p:sp>
        <p:nvSpPr>
          <p:cNvPr id="109" name="c109"/>
          <p:cNvSpPr/>
          <p:nvPr/>
        </p:nvSpPr>
        <p:spPr>
          <a:xfrm>
            <a:off x="6073884" y="1779468"/>
            <a:ext cx="2594626" cy="685800"/>
          </a:xfrm>
          <a:prstGeom prst="roundRect">
            <a:avLst>
              <a:gd name="adj" fmla="val 14000"/>
            </a:avLst>
          </a:prstGeom>
          <a:solidFill>
            <a:srgbClr val="5B6B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ht110"/>
          <p:cNvSpPr txBox="1"/>
          <p:nvPr/>
        </p:nvSpPr>
        <p:spPr>
          <a:xfrm>
            <a:off x="6201900" y="1779468"/>
            <a:ext cx="2338594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900" b="1" spc="200">
                <a:solidFill>
                  <a:srgbClr val="FFFFFF"/>
                </a:solidFill>
                <a:latin typeface="Arial"/>
              </a:rPr>
              <a:t>PHASE 03</a:t>
            </a: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rial"/>
              </a:rPr>
              <a:t>Medium &amp; Long Term</a:t>
            </a:r>
          </a:p>
        </p:txBody>
      </p:sp>
      <p:sp>
        <p:nvSpPr>
          <p:cNvPr id="111" name="c111"/>
          <p:cNvSpPr/>
          <p:nvPr/>
        </p:nvSpPr>
        <p:spPr>
          <a:xfrm>
            <a:off x="6073884" y="2556708"/>
            <a:ext cx="2594626" cy="3003292"/>
          </a:xfrm>
          <a:prstGeom prst="roundRect">
            <a:avLst>
              <a:gd name="adj" fmla="val 7000"/>
            </a:avLst>
          </a:prstGeom>
          <a:solidFill>
            <a:srgbClr val="F3F5F7"/>
          </a:solidFill>
          <a:ln w="9525">
            <a:solidFill>
              <a:srgbClr val="D5DB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bt112"/>
          <p:cNvSpPr txBox="1"/>
          <p:nvPr/>
        </p:nvSpPr>
        <p:spPr>
          <a:xfrm>
            <a:off x="6211044" y="2684724"/>
            <a:ext cx="2320306" cy="2747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900"/>
              </a:spcAft>
            </a:pPr>
            <a:r>
              <a:rPr sz="950" i="1">
                <a:solidFill>
                  <a:srgbClr val="6B7480"/>
                </a:solidFill>
                <a:latin typeface="Arial"/>
              </a:rPr>
              <a:t>The roadmap ahead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Voice-assisted logging for elderly users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Native mobile app with offline logging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Wearable and device integration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A fully local language model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Interoperability with health-record exchange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>○  Multilingual interface — Malayalam, Kannada, Hindi</a:t>
            </a:r>
          </a:p>
          <a:p>
            <a:pPr marL="200000" indent="-200000" algn="l">
              <a:spcAft>
                <a:spcPts val="700"/>
              </a:spcAft>
            </a:pPr>
            <a:r>
              <a:rPr sz="1000" b="1">
                <a:solidFill>
                  <a:srgbClr val="8A9BA8"/>
                </a:solidFill>
                <a:latin typeface="Arial"/>
              </a:rPr>
              <a:t xml:space="preserve"/>
            </a:r>
            <a:r>
              <a:rPr sz="1000">
                <a:solidFill>
                  <a:srgbClr val="2D2D2D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9241" y="25146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4400" b="1" i="0">
                <a:solidFill>
                  <a:srgbClr val="0B5394"/>
                </a:solidFill>
                <a:latin typeface="Arial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200" y="3246120"/>
            <a:ext cx="1371600" cy="27432"/>
          </a:xfrm>
          <a:prstGeom prst="rect">
            <a:avLst/>
          </a:prstGeom>
          <a:solidFill>
            <a:srgbClr val="BF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667085"/>
                </a:solidFill>
                <a:latin typeface="Arial"/>
              </a:rPr>
              <a:t>Sreenanda T (2548051)   ·   Terese Mathew (2548057)   ·   Guide: Dr Apash Roy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Simple Light</vt:lpstr>
      <vt:lpstr>Smart Health Companion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2026-07-24T19:11:13Z</dcterms:modified>
</cp:coreProperties>
</file>